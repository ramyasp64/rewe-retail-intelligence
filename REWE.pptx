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9"/>
  </p:notesMasterIdLst>
  <p:sldIdLst>
    <p:sldId id="256" r:id="rId2"/>
    <p:sldId id="260" r:id="rId3"/>
    <p:sldId id="258" r:id="rId4"/>
    <p:sldId id="257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81"/>
  </p:normalViewPr>
  <p:slideViewPr>
    <p:cSldViewPr snapToGrid="0">
      <p:cViewPr varScale="1">
        <p:scale>
          <a:sx n="107" d="100"/>
          <a:sy n="107" d="100"/>
        </p:scale>
        <p:origin x="736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EBD31-BF9F-8A4B-A029-1E91A2FB99BA}" type="datetimeFigureOut">
              <a:rPr lang="en-DE" smtClean="0"/>
              <a:t>25.06.25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1C4915-CE2D-5845-86D2-3DF78E6E784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75749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1C4915-CE2D-5845-86D2-3DF78E6E7846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63844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6/24/25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361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6/24/25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82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smtClean="0"/>
              <a:t>6/24/25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55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6/24/25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78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6/24/25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378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6/24/25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86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6/24/25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62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6/24/25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97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6/24/25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15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6/24/25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256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6/24/25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51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6/24/25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55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12E691-3F5E-871D-9A46-77B11919D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56100" y="391887"/>
            <a:ext cx="4972511" cy="3037114"/>
          </a:xfrm>
        </p:spPr>
        <p:txBody>
          <a:bodyPr anchor="b">
            <a:normAutofit/>
          </a:bodyPr>
          <a:lstStyle/>
          <a:p>
            <a:r>
              <a:rPr lang="en-GB" sz="4000" b="1" dirty="0"/>
              <a:t>REWE Retail Intelligence: Turning Data into Strategic Advantage</a:t>
            </a:r>
            <a:br>
              <a:rPr lang="en-GB" sz="4000" b="1" dirty="0"/>
            </a:br>
            <a:endParaRPr lang="en-DE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CB38AB-9BEB-A498-5E8D-158E753358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6100" y="2933205"/>
            <a:ext cx="4972512" cy="3271199"/>
          </a:xfrm>
        </p:spPr>
        <p:txBody>
          <a:bodyPr>
            <a:normAutofit/>
          </a:bodyPr>
          <a:lstStyle/>
          <a:p>
            <a:r>
              <a:rPr lang="en-GB" dirty="0"/>
              <a:t>Exploratory Insights from Retail Data - Sales, Price, Loyalty Programs, Competitor Benchmarking, Product, Category, Region &amp; Date Trends</a:t>
            </a:r>
          </a:p>
          <a:p>
            <a:r>
              <a:rPr lang="en-GB" sz="1600" b="1" dirty="0"/>
              <a:t>Candidate Information</a:t>
            </a:r>
          </a:p>
          <a:p>
            <a:r>
              <a:rPr lang="en-GB" sz="1600" dirty="0"/>
              <a:t>Name: Ramya Subramanian </a:t>
            </a:r>
            <a:r>
              <a:rPr lang="en-GB" sz="1600" dirty="0" err="1"/>
              <a:t>Porselva</a:t>
            </a:r>
            <a:r>
              <a:rPr lang="en-GB" sz="1600" dirty="0"/>
              <a:t> Bharathi</a:t>
            </a:r>
          </a:p>
          <a:p>
            <a:r>
              <a:rPr lang="en-GB" sz="1600" dirty="0"/>
              <a:t>Application for: Working Student — Business Insights, Retail Intelligence</a:t>
            </a:r>
          </a:p>
          <a:p>
            <a:r>
              <a:rPr lang="en-GB" sz="1600" dirty="0"/>
              <a:t>Date: June 2025</a:t>
            </a:r>
          </a:p>
          <a:p>
            <a:endParaRPr lang="en-GB" dirty="0"/>
          </a:p>
          <a:p>
            <a:endParaRPr lang="en-DE" dirty="0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14A1598B-1957-47CF-AAF4-F7A36DA0E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3"/>
            <a:ext cx="6095695" cy="6857997"/>
          </a:xfrm>
          <a:custGeom>
            <a:avLst/>
            <a:gdLst>
              <a:gd name="connsiteX0" fmla="*/ 3435036 w 6095695"/>
              <a:gd name="connsiteY0" fmla="*/ 0 h 6857997"/>
              <a:gd name="connsiteX1" fmla="*/ 4198562 w 6095695"/>
              <a:gd name="connsiteY1" fmla="*/ 0 h 6857997"/>
              <a:gd name="connsiteX2" fmla="*/ 4365987 w 6095695"/>
              <a:gd name="connsiteY2" fmla="*/ 128761 h 6857997"/>
              <a:gd name="connsiteX3" fmla="*/ 6095695 w 6095695"/>
              <a:gd name="connsiteY3" fmla="*/ 3718209 h 6857997"/>
              <a:gd name="connsiteX4" fmla="*/ 4860911 w 6095695"/>
              <a:gd name="connsiteY4" fmla="*/ 6845880 h 6857997"/>
              <a:gd name="connsiteX5" fmla="*/ 4849107 w 6095695"/>
              <a:gd name="connsiteY5" fmla="*/ 6857997 h 6857997"/>
              <a:gd name="connsiteX6" fmla="*/ 4253869 w 6095695"/>
              <a:gd name="connsiteY6" fmla="*/ 6857997 h 6857997"/>
              <a:gd name="connsiteX7" fmla="*/ 4409441 w 6095695"/>
              <a:gd name="connsiteY7" fmla="*/ 6719623 h 6857997"/>
              <a:gd name="connsiteX8" fmla="*/ 5679794 w 6095695"/>
              <a:gd name="connsiteY8" fmla="*/ 3718209 h 6857997"/>
              <a:gd name="connsiteX9" fmla="*/ 3591563 w 6095695"/>
              <a:gd name="connsiteY9" fmla="*/ 88079 h 6857997"/>
              <a:gd name="connsiteX10" fmla="*/ 0 w 6095695"/>
              <a:gd name="connsiteY10" fmla="*/ 0 h 6857997"/>
              <a:gd name="connsiteX11" fmla="*/ 3177466 w 6095695"/>
              <a:gd name="connsiteY11" fmla="*/ 0 h 6857997"/>
              <a:gd name="connsiteX12" fmla="*/ 3353291 w 6095695"/>
              <a:gd name="connsiteY12" fmla="*/ 88129 h 6857997"/>
              <a:gd name="connsiteX13" fmla="*/ 5560965 w 6095695"/>
              <a:gd name="connsiteY13" fmla="*/ 3718209 h 6857997"/>
              <a:gd name="connsiteX14" fmla="*/ 4325417 w 6095695"/>
              <a:gd name="connsiteY14" fmla="*/ 6637392 h 6857997"/>
              <a:gd name="connsiteX15" fmla="*/ 4077394 w 6095695"/>
              <a:gd name="connsiteY15" fmla="*/ 6857997 h 6857997"/>
              <a:gd name="connsiteX16" fmla="*/ 0 w 6095695"/>
              <a:gd name="connsiteY16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695" h="6857997">
                <a:moveTo>
                  <a:pt x="3435036" y="0"/>
                </a:moveTo>
                <a:lnTo>
                  <a:pt x="4198562" y="0"/>
                </a:lnTo>
                <a:lnTo>
                  <a:pt x="4365987" y="128761"/>
                </a:lnTo>
                <a:cubicBezTo>
                  <a:pt x="5422363" y="981944"/>
                  <a:pt x="6095695" y="2273123"/>
                  <a:pt x="6095695" y="3718209"/>
                </a:cubicBezTo>
                <a:cubicBezTo>
                  <a:pt x="6095695" y="4922447"/>
                  <a:pt x="5628104" y="6019805"/>
                  <a:pt x="4860911" y="6845880"/>
                </a:cubicBezTo>
                <a:lnTo>
                  <a:pt x="4849107" y="6857997"/>
                </a:lnTo>
                <a:lnTo>
                  <a:pt x="4253869" y="6857997"/>
                </a:lnTo>
                <a:lnTo>
                  <a:pt x="4409441" y="6719623"/>
                </a:lnTo>
                <a:cubicBezTo>
                  <a:pt x="5194330" y="5951494"/>
                  <a:pt x="5679794" y="4890334"/>
                  <a:pt x="5679794" y="3718209"/>
                </a:cubicBezTo>
                <a:cubicBezTo>
                  <a:pt x="5679794" y="2179795"/>
                  <a:pt x="4843506" y="832535"/>
                  <a:pt x="3591563" y="88079"/>
                </a:cubicBezTo>
                <a:close/>
                <a:moveTo>
                  <a:pt x="0" y="0"/>
                </a:moveTo>
                <a:lnTo>
                  <a:pt x="3177466" y="0"/>
                </a:lnTo>
                <a:lnTo>
                  <a:pt x="3353291" y="88129"/>
                </a:lnTo>
                <a:cubicBezTo>
                  <a:pt x="4668281" y="787221"/>
                  <a:pt x="5560965" y="2150692"/>
                  <a:pt x="5560965" y="3718209"/>
                </a:cubicBezTo>
                <a:cubicBezTo>
                  <a:pt x="5560965" y="4858221"/>
                  <a:pt x="5088802" y="5890308"/>
                  <a:pt x="4325417" y="6637392"/>
                </a:cubicBezTo>
                <a:lnTo>
                  <a:pt x="4077394" y="6857997"/>
                </a:lnTo>
                <a:lnTo>
                  <a:pt x="0" y="6857997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 descr="A red and white sign with white letters&#10;&#10;Description automatically generated">
            <a:extLst>
              <a:ext uri="{FF2B5EF4-FFF2-40B4-BE49-F238E27FC236}">
                <a16:creationId xmlns:a16="http://schemas.microsoft.com/office/drawing/2014/main" id="{976EFD5C-35D6-A151-682A-E78EFBE5E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3388" y="2777216"/>
            <a:ext cx="3749586" cy="1303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7156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CEFE66-0D9C-A6C3-D4D0-6C5E46C43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E854A04-40F1-6F7B-82F8-4EE8AF03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57655C-BF87-FE6B-B9AE-9BF36A6CA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95EA05-9A59-7718-7D24-D5F9E53C3C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2C7194-71F6-1206-8B37-D87693D70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46634D-E0EF-F73A-07AD-7FD339057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GB"/>
              <a:t>Competitor Price Comparison with Category Drill-Down</a:t>
            </a:r>
            <a:endParaRPr lang="en-DE"/>
          </a:p>
        </p:txBody>
      </p:sp>
      <p:pic>
        <p:nvPicPr>
          <p:cNvPr id="4" name="Picture 3" descr="A graph with different colored bars&#10;&#10;Description automatically generated with medium confidence">
            <a:extLst>
              <a:ext uri="{FF2B5EF4-FFF2-40B4-BE49-F238E27FC236}">
                <a16:creationId xmlns:a16="http://schemas.microsoft.com/office/drawing/2014/main" id="{B64F8AC0-20C4-0D14-BAB0-02D1856199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95" b="3"/>
          <a:stretch>
            <a:fillRect/>
          </a:stretch>
        </p:blipFill>
        <p:spPr>
          <a:xfrm>
            <a:off x="1007196" y="2265037"/>
            <a:ext cx="5088800" cy="390715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1C8FA-24E1-AF14-D0D1-879A8EEFD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6216" y="2320412"/>
            <a:ext cx="4632031" cy="385178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100" b="1" dirty="0"/>
              <a:t>Business Insight:</a:t>
            </a:r>
          </a:p>
          <a:p>
            <a:r>
              <a:rPr lang="en-GB" sz="1100" b="1" dirty="0"/>
              <a:t>Lidl consistently offers the lowest average product prices</a:t>
            </a:r>
            <a:r>
              <a:rPr lang="en-GB" sz="1100" dirty="0"/>
              <a:t> across all categories compared to REWE and Aldi.</a:t>
            </a:r>
            <a:br>
              <a:rPr lang="en-GB" sz="1100" dirty="0"/>
            </a:br>
            <a:r>
              <a:rPr lang="en-GB" sz="1100" dirty="0"/>
              <a:t>This pricing strategy gives Lidl a competitive edge in attracting price-sensitive customers.</a:t>
            </a:r>
            <a:r>
              <a:rPr lang="en-GB" sz="1050" b="1" dirty="0"/>
              <a:t> </a:t>
            </a:r>
            <a:endParaRPr lang="en-GB" sz="1100" dirty="0"/>
          </a:p>
          <a:p>
            <a:pPr marL="0" indent="0">
              <a:buNone/>
            </a:pPr>
            <a:r>
              <a:rPr lang="en-DE" sz="1100" b="1" dirty="0"/>
              <a:t> </a:t>
            </a:r>
            <a:r>
              <a:rPr lang="en-GB" sz="1100" b="1" dirty="0"/>
              <a:t>Recommendation:</a:t>
            </a:r>
          </a:p>
          <a:p>
            <a:r>
              <a:rPr lang="en-GB" sz="1100" b="1" dirty="0"/>
              <a:t>REWE should consider price-matching key items or offering loyalty discounts</a:t>
            </a:r>
            <a:r>
              <a:rPr lang="en-GB" sz="1100" dirty="0"/>
              <a:t> on selected high-traffic products in regions where Lidl has stronger pricing power (e.g., Organic products in Munich or Berlin).</a:t>
            </a:r>
          </a:p>
          <a:p>
            <a:pPr marL="0" indent="0">
              <a:buNone/>
            </a:pPr>
            <a:r>
              <a:rPr lang="en-GB" sz="1100" b="1" dirty="0"/>
              <a:t>Visual Shows: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100" dirty="0"/>
              <a:t>A </a:t>
            </a:r>
            <a:r>
              <a:rPr lang="en-GB" sz="1100" b="1" dirty="0"/>
              <a:t>Clustered Bar Chart</a:t>
            </a:r>
            <a:r>
              <a:rPr lang="en-GB" sz="1100" dirty="0"/>
              <a:t> showing </a:t>
            </a:r>
            <a:r>
              <a:rPr lang="en-GB" sz="1100" b="1" dirty="0"/>
              <a:t>Average Price by Competitor</a:t>
            </a:r>
            <a:endParaRPr lang="en-GB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100" dirty="0"/>
              <a:t>An </a:t>
            </a:r>
            <a:r>
              <a:rPr lang="en-GB" sz="1100" b="1" dirty="0"/>
              <a:t>interactive slicer</a:t>
            </a:r>
            <a:r>
              <a:rPr lang="en-GB" sz="1100" dirty="0"/>
              <a:t> allows filtering the chart by: Fresh, Organic, Regional</a:t>
            </a:r>
          </a:p>
          <a:p>
            <a:pPr marL="0" indent="0">
              <a:buNone/>
            </a:pPr>
            <a:endParaRPr lang="en-GB" sz="1100" dirty="0"/>
          </a:p>
          <a:p>
            <a:endParaRPr lang="en-GB" sz="1100" dirty="0"/>
          </a:p>
          <a:p>
            <a:endParaRPr lang="en-DE" sz="11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9A139F7-8621-6E18-4576-4EA3F1903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F495844-4C81-451E-17D7-96347ACB4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1954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A05883-BBB5-3753-ABA8-48AE78BE3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F11975-3802-790A-C2C7-43261866F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313033-7DC9-C624-5D00-8B5110E5A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224710-8615-3B75-B697-A0590861E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B434EC-C877-2F17-C9FA-3F645F64C7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65A2D0-955D-B844-154F-C15E1E62E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b="1" dirty="0"/>
              <a:t>Munich Leads in Organic Sales: Regional Sales Insights</a:t>
            </a:r>
            <a:br>
              <a:rPr lang="en-GB" dirty="0"/>
            </a:b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29254-BDE5-22ED-1814-4670B7078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6216" y="2320412"/>
            <a:ext cx="4632031" cy="3851787"/>
          </a:xfrm>
        </p:spPr>
        <p:txBody>
          <a:bodyPr anchor="ctr">
            <a:normAutofit fontScale="85000" lnSpcReduction="10000"/>
          </a:bodyPr>
          <a:lstStyle/>
          <a:p>
            <a:pPr marL="0" indent="0">
              <a:buNone/>
            </a:pPr>
            <a:endParaRPr lang="en-GB" sz="1100" b="1" dirty="0"/>
          </a:p>
          <a:p>
            <a:pPr marL="0" indent="0">
              <a:buNone/>
            </a:pPr>
            <a:r>
              <a:rPr lang="en-GB" sz="1100" b="1" dirty="0"/>
              <a:t>Business Insight:</a:t>
            </a:r>
          </a:p>
          <a:p>
            <a:r>
              <a:rPr lang="en-GB" sz="1050" b="1" dirty="0"/>
              <a:t>“Munich reports the highest sales for Organic products among all regions.”</a:t>
            </a:r>
            <a:br>
              <a:rPr lang="en-GB" sz="1050" dirty="0"/>
            </a:br>
            <a:r>
              <a:rPr lang="en-GB" sz="1050" dirty="0"/>
              <a:t>This suggests a strong regional demand for organic items in southern Germany.</a:t>
            </a:r>
            <a:endParaRPr lang="en-GB" sz="1100" dirty="0"/>
          </a:p>
          <a:p>
            <a:pPr marL="0" indent="0">
              <a:buNone/>
            </a:pPr>
            <a:r>
              <a:rPr lang="en-DE" sz="1100" b="1" dirty="0"/>
              <a:t> </a:t>
            </a:r>
            <a:r>
              <a:rPr lang="en-GB" sz="1100" b="1" dirty="0"/>
              <a:t>Recommendation:</a:t>
            </a:r>
          </a:p>
          <a:p>
            <a:r>
              <a:rPr lang="en-GB" sz="1050" dirty="0"/>
              <a:t>REWE should consider increasing stock, promotions, and local supplier partnerships for organic items in the Munich region to meet growing demand.</a:t>
            </a:r>
            <a:endParaRPr lang="en-GB" sz="1100" dirty="0"/>
          </a:p>
          <a:p>
            <a:pPr marL="0" indent="0">
              <a:buNone/>
            </a:pPr>
            <a:r>
              <a:rPr lang="en-GB" sz="1100" b="1" dirty="0"/>
              <a:t>Power BI Visual Shows:</a:t>
            </a:r>
          </a:p>
          <a:p>
            <a:r>
              <a:rPr lang="en-GB" sz="1050" b="1" dirty="0"/>
              <a:t>Visual Type</a:t>
            </a:r>
            <a:r>
              <a:rPr lang="en-GB" sz="1050" dirty="0"/>
              <a:t>: Filled Map</a:t>
            </a:r>
          </a:p>
          <a:p>
            <a:r>
              <a:rPr lang="en-GB" sz="1050" b="1" dirty="0"/>
              <a:t>Purpose</a:t>
            </a:r>
            <a:r>
              <a:rPr lang="en-GB" sz="1050" dirty="0"/>
              <a:t>: Displays </a:t>
            </a:r>
            <a:r>
              <a:rPr lang="en-GB" sz="1050" b="1" dirty="0"/>
              <a:t>regional organic product sales</a:t>
            </a:r>
            <a:r>
              <a:rPr lang="en-GB" sz="1050" dirty="0"/>
              <a:t> across cities in Germany.</a:t>
            </a:r>
          </a:p>
          <a:p>
            <a:pPr marL="0" indent="0">
              <a:buNone/>
            </a:pPr>
            <a:r>
              <a:rPr lang="en-GB" sz="1050" b="1" dirty="0"/>
              <a:t>Features</a:t>
            </a:r>
            <a:r>
              <a:rPr lang="en-GB" sz="105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050" b="1" dirty="0"/>
              <a:t>Darker red areas</a:t>
            </a:r>
            <a:r>
              <a:rPr lang="en-GB" sz="1050" dirty="0"/>
              <a:t> indicate </a:t>
            </a:r>
            <a:r>
              <a:rPr lang="en-GB" sz="1050" b="1" dirty="0"/>
              <a:t>higher sales</a:t>
            </a:r>
            <a:r>
              <a:rPr lang="en-GB" sz="105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050" b="1" dirty="0"/>
              <a:t>Each city</a:t>
            </a:r>
            <a:r>
              <a:rPr lang="en-GB" sz="1050" dirty="0"/>
              <a:t> is mapped based on the total sales of organic products.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050" dirty="0"/>
              <a:t>Hovering over a city shows </a:t>
            </a:r>
            <a:r>
              <a:rPr lang="en-GB" sz="1050" b="1" dirty="0"/>
              <a:t>exact sales figures</a:t>
            </a:r>
            <a:r>
              <a:rPr lang="en-GB" sz="105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050" b="1" dirty="0"/>
              <a:t>Map styling</a:t>
            </a:r>
            <a:r>
              <a:rPr lang="en-GB" sz="1050" dirty="0"/>
              <a:t> is based on </a:t>
            </a:r>
            <a:r>
              <a:rPr lang="en-GB" sz="1050" b="1" dirty="0"/>
              <a:t>the </a:t>
            </a:r>
            <a:r>
              <a:rPr lang="en-GB" sz="1050" b="1" dirty="0" err="1"/>
              <a:t>color</a:t>
            </a:r>
            <a:r>
              <a:rPr lang="en-GB" sz="1050" b="1" dirty="0"/>
              <a:t> saturation</a:t>
            </a:r>
            <a:r>
              <a:rPr lang="en-GB" sz="1050" dirty="0"/>
              <a:t> of the “Sales” metric.</a:t>
            </a:r>
            <a:endParaRPr lang="en-GB" sz="1100" dirty="0"/>
          </a:p>
          <a:p>
            <a:endParaRPr lang="en-GB" sz="1100" dirty="0"/>
          </a:p>
          <a:p>
            <a:endParaRPr lang="en-DE" sz="11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490D439-BA2B-44D9-D946-BA6FA02C8D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A49C928-35FC-3CD0-BC82-9BA830FD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8DB471-9532-05DA-ED98-2315028A1A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504" y="2366488"/>
            <a:ext cx="5434241" cy="345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874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970849-6A2F-2141-A9CF-31C914081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 fontScale="90000"/>
          </a:bodyPr>
          <a:lstStyle/>
          <a:p>
            <a:r>
              <a:rPr lang="en-GB"/>
              <a:t>Loyalty Program Members Spend More: Boosting Value Through Retention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9685D-6C67-6437-AE18-B960D595C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6216" y="2320412"/>
            <a:ext cx="4632031" cy="4073469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GB" sz="1100" b="1" dirty="0"/>
              <a:t>Business Insight:</a:t>
            </a:r>
          </a:p>
          <a:p>
            <a:r>
              <a:rPr lang="en-GB" sz="1050" b="1" dirty="0"/>
              <a:t>Loyalty Program users spend significantly more</a:t>
            </a:r>
            <a:r>
              <a:rPr lang="en-GB" sz="1050" dirty="0"/>
              <a:t> on average compared to non-members, especially in the Organic and Regional categories. This suggests that loyalty participation directly correlates with higher basket value.</a:t>
            </a:r>
            <a:endParaRPr lang="en-GB" sz="1100" dirty="0"/>
          </a:p>
          <a:p>
            <a:pPr marL="0" indent="0">
              <a:buNone/>
            </a:pPr>
            <a:r>
              <a:rPr lang="en-DE" sz="1100" b="1" dirty="0"/>
              <a:t> </a:t>
            </a:r>
            <a:r>
              <a:rPr lang="en-GB" sz="1100" b="1" dirty="0"/>
              <a:t>Recommendation:</a:t>
            </a:r>
          </a:p>
          <a:p>
            <a:r>
              <a:rPr lang="en-GB" sz="1050" dirty="0"/>
              <a:t>REWE should actively promote its loyalty program to non-members, especially in regions with lower sign-up rates, and offer exclusive incentives in high-margin categories, such as organic and Regional products.</a:t>
            </a:r>
            <a:endParaRPr lang="en-GB" sz="1100" dirty="0"/>
          </a:p>
          <a:p>
            <a:pPr marL="0" indent="0">
              <a:buNone/>
            </a:pPr>
            <a:r>
              <a:rPr lang="en-GB" sz="1100" b="1" dirty="0"/>
              <a:t>Visual Shows: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100" b="1" dirty="0"/>
              <a:t>Visual Type</a:t>
            </a:r>
            <a:r>
              <a:rPr lang="en-GB" sz="1100" dirty="0"/>
              <a:t>:</a:t>
            </a:r>
            <a:r>
              <a:rPr lang="en-GB" sz="1100" b="1" dirty="0"/>
              <a:t> </a:t>
            </a:r>
            <a:r>
              <a:rPr lang="en-GB" sz="1050" dirty="0"/>
              <a:t>Clustered Column Chart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050" b="1" dirty="0"/>
              <a:t>X-axis:</a:t>
            </a:r>
            <a:r>
              <a:rPr lang="en-GB" sz="1050" dirty="0"/>
              <a:t> "Loyalty Program?" – indicating whether customers are part of a loyalty program ("Yes" or "No").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050" b="1" dirty="0"/>
              <a:t>Y-axis:</a:t>
            </a:r>
            <a:r>
              <a:rPr lang="en-GB" sz="1050" dirty="0"/>
              <a:t> "Average of Sales" – showing the average sales figures.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050" b="1" dirty="0"/>
              <a:t>Legend (</a:t>
            </a:r>
            <a:r>
              <a:rPr lang="en-GB" sz="1050" b="1" dirty="0" err="1"/>
              <a:t>Color</a:t>
            </a:r>
            <a:r>
              <a:rPr lang="en-GB" sz="1050" b="1" dirty="0"/>
              <a:t>):</a:t>
            </a:r>
            <a:r>
              <a:rPr lang="en-GB" sz="1050" dirty="0"/>
              <a:t> Category – differentiates "Fresh", "Organic", and "Regional" product categories by </a:t>
            </a:r>
            <a:r>
              <a:rPr lang="en-GB" sz="1050" dirty="0" err="1"/>
              <a:t>color</a:t>
            </a:r>
            <a:r>
              <a:rPr lang="en-GB" sz="105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050" b="1" dirty="0"/>
              <a:t>Data Labels:</a:t>
            </a:r>
            <a:r>
              <a:rPr lang="en-GB" sz="1050" dirty="0"/>
              <a:t> The exact average values are shown on top of each bar (e.g., 1953.53, 1808.69).</a:t>
            </a:r>
          </a:p>
          <a:p>
            <a:r>
              <a:rPr lang="en-GB" sz="1050" dirty="0"/>
              <a:t>This visual helps compare average sales across different categories, segmented by loyalty program participation.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8FCD90-36D1-B925-0003-EC003F8B73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504" y="2320412"/>
            <a:ext cx="5511712" cy="436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809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AF73C5-CCE4-6BAD-53B6-815AA3544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2539166-8485-50A9-F811-207DEA58E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82777C-71C0-2A01-C847-6210159EE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C87A98-385F-DB63-5438-8A7997B49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71711A-94DA-DA97-6A0C-A5F5E7551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69FAA0-D95E-49DB-988C-AC82E5C15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GB" dirty="0"/>
              <a:t>Organic Product Sales Peak During Spring and Early Summer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07323-BB77-E79F-28F7-E29A93DA0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6216" y="2320412"/>
            <a:ext cx="4632031" cy="385178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100" b="1" dirty="0"/>
              <a:t>Business Insight:</a:t>
            </a:r>
          </a:p>
          <a:p>
            <a:r>
              <a:rPr lang="en-GB" sz="1050" b="1" dirty="0"/>
              <a:t>Seasonal sales trends</a:t>
            </a:r>
            <a:r>
              <a:rPr lang="en-GB" sz="1050" dirty="0"/>
              <a:t> show that </a:t>
            </a:r>
            <a:r>
              <a:rPr lang="en-GB" sz="1050" b="1" dirty="0"/>
              <a:t>organic product sales peak in spring and early summer months</a:t>
            </a:r>
            <a:r>
              <a:rPr lang="en-GB" sz="1050" dirty="0"/>
              <a:t>, especially in regions like Bavaria and North Rhine-Westphalia.</a:t>
            </a:r>
            <a:endParaRPr lang="en-GB" sz="1100" dirty="0"/>
          </a:p>
          <a:p>
            <a:pPr marL="0" indent="0">
              <a:buNone/>
            </a:pPr>
            <a:r>
              <a:rPr lang="en-DE" sz="1100" b="1" dirty="0"/>
              <a:t> </a:t>
            </a:r>
            <a:r>
              <a:rPr lang="en-GB" sz="1100" b="1" dirty="0"/>
              <a:t>Recommendation:</a:t>
            </a:r>
          </a:p>
          <a:p>
            <a:r>
              <a:rPr lang="en-GB" sz="1050" dirty="0"/>
              <a:t>Leverage this seasonal pattern by planning </a:t>
            </a:r>
            <a:r>
              <a:rPr lang="en-GB" sz="1050" b="1" dirty="0"/>
              <a:t>targeted promotional campaigns from March to June</a:t>
            </a:r>
            <a:r>
              <a:rPr lang="en-GB" sz="1050" dirty="0"/>
              <a:t>, focusing on organic product discounts and loyalty offers during these high-demand months.</a:t>
            </a:r>
            <a:endParaRPr lang="en-GB" sz="1100" dirty="0"/>
          </a:p>
          <a:p>
            <a:pPr marL="0" indent="0">
              <a:buNone/>
            </a:pPr>
            <a:r>
              <a:rPr lang="en-GB" sz="1100" b="1" dirty="0"/>
              <a:t>Visual Shows:</a:t>
            </a:r>
          </a:p>
          <a:p>
            <a:r>
              <a:rPr lang="en-GB" sz="1050" b="1" dirty="0"/>
              <a:t>A Line Chart shows:</a:t>
            </a:r>
            <a:r>
              <a:rPr lang="en-GB" sz="1050" dirty="0"/>
              <a:t> Monthly sales trend for </a:t>
            </a:r>
            <a:r>
              <a:rPr lang="en-GB" sz="1050" b="1" dirty="0"/>
              <a:t>Organic Products</a:t>
            </a:r>
            <a:br>
              <a:rPr lang="en-GB" sz="1050" dirty="0"/>
            </a:br>
            <a:r>
              <a:rPr lang="en-GB" sz="1050" b="1" dirty="0"/>
              <a:t>X-axis:</a:t>
            </a:r>
            <a:r>
              <a:rPr lang="en-GB" sz="1050" dirty="0"/>
              <a:t> Month</a:t>
            </a:r>
            <a:br>
              <a:rPr lang="en-GB" sz="1050" dirty="0"/>
            </a:br>
            <a:r>
              <a:rPr lang="en-GB" sz="1050" b="1" dirty="0"/>
              <a:t>Y-axis:</a:t>
            </a:r>
            <a:r>
              <a:rPr lang="en-GB" sz="1050" dirty="0"/>
              <a:t> Total Sales</a:t>
            </a:r>
          </a:p>
          <a:p>
            <a:r>
              <a:rPr lang="en-GB" sz="1050" b="1" dirty="0"/>
              <a:t>Slicer 1: "Filter by Product Category (Fresh, Organic, Regional)"</a:t>
            </a:r>
            <a:br>
              <a:rPr lang="en-GB" sz="1050" dirty="0"/>
            </a:br>
            <a:r>
              <a:rPr lang="en-GB" sz="1050" b="1" dirty="0"/>
              <a:t>Purpose:</a:t>
            </a:r>
            <a:r>
              <a:rPr lang="en-GB" sz="1050" dirty="0"/>
              <a:t> Let the user drill down into specific product types.</a:t>
            </a:r>
            <a:endParaRPr lang="en-GB" sz="1050" b="1" dirty="0"/>
          </a:p>
          <a:p>
            <a:r>
              <a:rPr lang="en-GB" sz="1050" b="1" dirty="0"/>
              <a:t>Slicer 2: "Select Region to View Local Trends"</a:t>
            </a:r>
            <a:br>
              <a:rPr lang="en-GB" sz="1050" dirty="0"/>
            </a:br>
            <a:r>
              <a:rPr lang="en-GB" sz="1050" b="1" dirty="0"/>
              <a:t>Purpose:</a:t>
            </a:r>
            <a:r>
              <a:rPr lang="en-GB" sz="1050" dirty="0"/>
              <a:t> Allows comparison of monthly trends by geographic area.</a:t>
            </a:r>
          </a:p>
          <a:p>
            <a:pPr marL="0" indent="0">
              <a:buNone/>
            </a:pPr>
            <a:endParaRPr lang="en-GB" sz="1100" dirty="0"/>
          </a:p>
          <a:p>
            <a:endParaRPr lang="en-GB" sz="1100" dirty="0"/>
          </a:p>
          <a:p>
            <a:endParaRPr lang="en-DE" sz="11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2F1AA33-06F4-892C-D7A5-680FFB156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F550CEA-918D-10FB-556A-7C6095CFD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AAA341-A6E4-807D-F31B-37C855338A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504" y="2320412"/>
            <a:ext cx="5259134" cy="373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93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887F3D-F750-C76A-9B8B-ADC17DE69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750B500-6891-1A68-E2F2-7DB8F52B0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68E597-AA24-2CB0-BFE2-2F4E9E4A9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D916C7-7A38-366A-E47B-3419E7722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6BF64F-7267-A2AF-EDA9-E81767A9D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C8B5FF-1A37-D91C-F236-FB9B0BB41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GB" b="1" dirty="0"/>
              <a:t>COMPETITOR LOYALTY PROGRAM EFFECTIVENESS ANALYSIS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B46E0-99AB-AF15-6E90-9BDB49D1B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6216" y="2320412"/>
            <a:ext cx="4632031" cy="4558101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endParaRPr lang="en-GB" sz="1100" b="1" dirty="0"/>
          </a:p>
          <a:p>
            <a:pPr marL="0" indent="0">
              <a:buNone/>
            </a:pPr>
            <a:r>
              <a:rPr lang="en-GB" sz="1100" b="1" dirty="0"/>
              <a:t>Business Insight:</a:t>
            </a:r>
          </a:p>
          <a:p>
            <a:r>
              <a:rPr lang="en-GB" sz="1050" b="1" dirty="0"/>
              <a:t>Lidl’s Loyalty Program drives higher sales despite higher product prices</a:t>
            </a:r>
            <a:r>
              <a:rPr lang="en-GB" sz="1050" dirty="0"/>
              <a:t>, indicating strong customer engagement and loyalty impact.</a:t>
            </a:r>
          </a:p>
          <a:p>
            <a:r>
              <a:rPr lang="en-GB" sz="1050" dirty="0"/>
              <a:t>In contrast, </a:t>
            </a:r>
            <a:r>
              <a:rPr lang="en-GB" sz="1050" b="1" dirty="0"/>
              <a:t>REWE’s loyalty initiatives have shown minimal or negative sales impacts,</a:t>
            </a:r>
            <a:r>
              <a:rPr lang="en-GB" sz="1050" dirty="0"/>
              <a:t> suggesting program ineffectiveness or poor targeting.</a:t>
            </a:r>
            <a:endParaRPr lang="en-GB" sz="1100" dirty="0"/>
          </a:p>
          <a:p>
            <a:pPr marL="0" indent="0">
              <a:buNone/>
            </a:pPr>
            <a:r>
              <a:rPr lang="en-DE" sz="1100" b="1" dirty="0"/>
              <a:t> </a:t>
            </a:r>
            <a:r>
              <a:rPr lang="en-GB" sz="1100" b="1" dirty="0"/>
              <a:t>Recommendation:</a:t>
            </a:r>
          </a:p>
          <a:p>
            <a:r>
              <a:rPr lang="en-GB" sz="1050" b="1" dirty="0"/>
              <a:t>REWE should redesign loyalty programs with a focus on measurable sales uplift</a:t>
            </a:r>
            <a:r>
              <a:rPr lang="en-GB" sz="1050" dirty="0"/>
              <a:t> by:</a:t>
            </a:r>
            <a:br>
              <a:rPr lang="en-GB" sz="1050" dirty="0"/>
            </a:br>
            <a:r>
              <a:rPr lang="en-GB" sz="1050" dirty="0"/>
              <a:t>    - Tailoring loyalty offers by product category and region.</a:t>
            </a:r>
            <a:br>
              <a:rPr lang="en-GB" sz="1050" dirty="0"/>
            </a:br>
            <a:r>
              <a:rPr lang="en-GB" sz="1050" dirty="0"/>
              <a:t>    - Learning from Lidl’s model in driving engagement, even with higher pricing.</a:t>
            </a:r>
            <a:br>
              <a:rPr lang="en-GB" sz="1050" dirty="0"/>
            </a:br>
            <a:r>
              <a:rPr lang="en-GB" sz="1050" dirty="0"/>
              <a:t>    - Prioritizing loyalty initiatives on premium or high-margin categories (e.g., Organic, Regional).</a:t>
            </a:r>
            <a:endParaRPr lang="en-GB" sz="1100" dirty="0"/>
          </a:p>
          <a:p>
            <a:pPr marL="0" indent="0">
              <a:buNone/>
            </a:pPr>
            <a:r>
              <a:rPr lang="en-GB" sz="1100" b="1" dirty="0"/>
              <a:t>Visual Shows:</a:t>
            </a:r>
          </a:p>
          <a:p>
            <a:r>
              <a:rPr lang="en-GB" sz="1050" dirty="0"/>
              <a:t>A </a:t>
            </a:r>
            <a:r>
              <a:rPr lang="en-GB" sz="1050" b="1" dirty="0"/>
              <a:t>Combo Chart</a:t>
            </a:r>
            <a:r>
              <a:rPr lang="en-GB" sz="1050" dirty="0"/>
              <a:t> comparing </a:t>
            </a:r>
            <a:r>
              <a:rPr lang="en-GB" sz="1050" b="1" dirty="0"/>
              <a:t>Average Sales</a:t>
            </a:r>
            <a:r>
              <a:rPr lang="en-GB" sz="1050" dirty="0"/>
              <a:t> (Bars) and </a:t>
            </a:r>
            <a:r>
              <a:rPr lang="en-GB" sz="1050" b="1" dirty="0"/>
              <a:t>Average Price</a:t>
            </a:r>
            <a:r>
              <a:rPr lang="en-GB" sz="1050" dirty="0"/>
              <a:t> (Line) by Competitor, split by Loyalty Program participation</a:t>
            </a:r>
          </a:p>
          <a:p>
            <a:r>
              <a:rPr lang="en-GB" sz="1050" b="1" dirty="0"/>
              <a:t>Interactive Slicers</a:t>
            </a:r>
            <a:r>
              <a:rPr lang="en-GB" sz="1050" dirty="0"/>
              <a:t> enable dynamic filtering by:</a:t>
            </a:r>
            <a:br>
              <a:rPr lang="en-GB" sz="1050" dirty="0"/>
            </a:br>
            <a:r>
              <a:rPr lang="en-GB" sz="1050" dirty="0"/>
              <a:t>    – </a:t>
            </a:r>
            <a:r>
              <a:rPr lang="en-GB" sz="1050" b="1" dirty="0"/>
              <a:t>Product Category:</a:t>
            </a:r>
            <a:r>
              <a:rPr lang="en-GB" sz="1050" dirty="0"/>
              <a:t> Fresh, Organic, Regional</a:t>
            </a:r>
            <a:br>
              <a:rPr lang="en-GB" sz="1050" dirty="0"/>
            </a:br>
            <a:r>
              <a:rPr lang="en-GB" sz="1050" dirty="0"/>
              <a:t>    – </a:t>
            </a:r>
            <a:r>
              <a:rPr lang="en-GB" sz="1050" b="1" dirty="0"/>
              <a:t>Region:</a:t>
            </a:r>
            <a:r>
              <a:rPr lang="en-GB" sz="1050" dirty="0"/>
              <a:t> Munich, Hamburg, Cologne, etc.</a:t>
            </a:r>
          </a:p>
          <a:p>
            <a:r>
              <a:rPr lang="en-GB" sz="1050" dirty="0"/>
              <a:t>Allows clear identification of how Loyalty Programs perform within specific market segments, uncovering hidden patterns not visible in overall averages</a:t>
            </a:r>
            <a:endParaRPr lang="en-GB" sz="1100" dirty="0"/>
          </a:p>
          <a:p>
            <a:pPr marL="0" indent="0">
              <a:buNone/>
            </a:pPr>
            <a:endParaRPr lang="en-GB" sz="1100" dirty="0"/>
          </a:p>
          <a:p>
            <a:endParaRPr lang="en-GB" sz="1100" dirty="0"/>
          </a:p>
          <a:p>
            <a:endParaRPr lang="en-DE" sz="11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F676466-1711-12D2-5A01-CF14EC8B3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4953B21-5BB5-FA05-6C5E-B9131F47D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EA0520-1E43-5D50-48EB-25F73E7A96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504" y="2320412"/>
            <a:ext cx="5509263" cy="390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472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AF35CD-DA30-4E34-B0F3-32C27766D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6310" y="0"/>
            <a:ext cx="435568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14D5CA-1441-D031-0595-A491C01D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6350" y="484632"/>
            <a:ext cx="3544035" cy="1609344"/>
          </a:xfrm>
          <a:ln>
            <a:noFill/>
          </a:ln>
        </p:spPr>
        <p:txBody>
          <a:bodyPr>
            <a:normAutofit/>
          </a:bodyPr>
          <a:lstStyle/>
          <a:p>
            <a:endParaRPr lang="en-DE" sz="3200" dirty="0"/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96AE3C4B-774B-DBB5-77FA-D5477B0E65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1083" y="640080"/>
            <a:ext cx="5588101" cy="558810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CC87B-6BDF-4FAF-39A6-FCE36BED3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6351" y="2121408"/>
            <a:ext cx="3544034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DE" sz="4400" dirty="0"/>
              <a:t>THANK YOU!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CFC42DC-2C46-47C4-BC61-530557385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4B91A37-AA1F-4966-8ACF-93023547D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7B17AC5-0931-432F-9A4A-DDCFAA010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86211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1572</TotalTime>
  <Words>820</Words>
  <Application>Microsoft Macintosh PowerPoint</Application>
  <PresentationFormat>Widescreen</PresentationFormat>
  <Paragraphs>65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Arial</vt:lpstr>
      <vt:lpstr>Calibri</vt:lpstr>
      <vt:lpstr>Rockwell</vt:lpstr>
      <vt:lpstr>Rockwell Condensed</vt:lpstr>
      <vt:lpstr>Rockwell Extra Bold</vt:lpstr>
      <vt:lpstr>Wingdings</vt:lpstr>
      <vt:lpstr>Wood Type</vt:lpstr>
      <vt:lpstr>REWE Retail Intelligence: Turning Data into Strategic Advantage </vt:lpstr>
      <vt:lpstr>Competitor Price Comparison with Category Drill-Down</vt:lpstr>
      <vt:lpstr> Munich Leads in Organic Sales: Regional Sales Insights </vt:lpstr>
      <vt:lpstr>Loyalty Program Members Spend More: Boosting Value Through Retention</vt:lpstr>
      <vt:lpstr>Organic Product Sales Peak During Spring and Early Summer</vt:lpstr>
      <vt:lpstr>COMPETITOR LOYALTY PROGRAM EFFECTIVENESS ANALYSIS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Ramya Subramanian Porselva Bharathi</dc:creator>
  <cp:lastModifiedBy>Ramya Subramanian Porselva Bharathi</cp:lastModifiedBy>
  <cp:revision>31</cp:revision>
  <dcterms:created xsi:type="dcterms:W3CDTF">2025-06-24T16:31:52Z</dcterms:created>
  <dcterms:modified xsi:type="dcterms:W3CDTF">2025-06-25T18:44:50Z</dcterms:modified>
</cp:coreProperties>
</file>